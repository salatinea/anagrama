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1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Cascadia Code" panose="020B0609020000020004" pitchFamily="49" charset="0"/>
      <p:regular r:id="rId8"/>
      <p:bold r:id="rId9"/>
      <p:italic r:id="rId10"/>
      <p:boldItalic r:id="rId11"/>
    </p:embeddedFont>
    <p:embeddedFont>
      <p:font typeface="Urbanist" panose="020B060402020202020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19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969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5343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762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425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84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165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293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711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134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132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65669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5437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570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034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50506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2179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691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479204E-4906-7EF4-09DD-C9328D26D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90000" contrast="29000"/>
                    </a14:imgEffect>
                  </a14:imgLayer>
                </a14:imgProps>
              </a:ext>
            </a:extLst>
          </a:blip>
          <a:srcRect l="-1302" r="2604"/>
          <a:stretch>
            <a:fillRect/>
          </a:stretch>
        </p:blipFill>
        <p:spPr>
          <a:xfrm>
            <a:off x="-162966" y="0"/>
            <a:ext cx="12354966" cy="6858000"/>
          </a:xfrm>
          <a:prstGeom prst="rect">
            <a:avLst/>
          </a:prstGeom>
        </p:spPr>
      </p:pic>
      <p:sp>
        <p:nvSpPr>
          <p:cNvPr id="86" name="Google Shape;86;p13"/>
          <p:cNvSpPr txBox="1"/>
          <p:nvPr/>
        </p:nvSpPr>
        <p:spPr>
          <a:xfrm>
            <a:off x="4524374" y="1872918"/>
            <a:ext cx="314325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A3 GESTÃO E QUALIDADE DE SOFTWARE</a:t>
            </a:r>
            <a:endParaRPr dirty="0">
              <a:solidFill>
                <a:srgbClr val="9966FF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445543" y="2211734"/>
            <a:ext cx="7300912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Anagrama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5400" b="1" i="0" u="none" strike="noStrike" cap="none" dirty="0" err="1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Refatorado</a:t>
            </a:r>
            <a:endParaRPr dirty="0">
              <a:solidFill>
                <a:srgbClr val="9966FF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3385095"/>
            <a:ext cx="7620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9944"/>
              </a:lnSpc>
            </a:pPr>
            <a:r>
              <a:rPr lang="pt-BR" sz="1800" b="0" i="0" u="none" strike="noStrike" cap="none" dirty="0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Relatório sobre a aplicação de boas práticas de desenvolvimento para correção e melhoria de um sistema legado.</a:t>
            </a:r>
            <a:endParaRPr dirty="0"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FFD453CF-EA31-B78C-436A-890D52BC464C}"/>
              </a:ext>
            </a:extLst>
          </p:cNvPr>
          <p:cNvSpPr txBox="1"/>
          <p:nvPr/>
        </p:nvSpPr>
        <p:spPr>
          <a:xfrm>
            <a:off x="4524375" y="4690593"/>
            <a:ext cx="314325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Arthur </a:t>
            </a:r>
            <a:r>
              <a:rPr lang="en-US" sz="1050" b="1" i="0" u="none" strike="noStrike" cap="none" dirty="0" err="1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Salatine</a:t>
            </a:r>
            <a:r>
              <a:rPr lang="en-US" sz="1050" b="1" i="0" u="none" strike="noStrike" cap="none" dirty="0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 de Moraes (822151203)</a:t>
            </a:r>
            <a:endParaRPr dirty="0">
              <a:solidFill>
                <a:srgbClr val="9966FF"/>
              </a:solidFill>
            </a:endParaRPr>
          </a:p>
        </p:txBody>
      </p:sp>
      <p:sp>
        <p:nvSpPr>
          <p:cNvPr id="3" name="Google Shape;86;p13">
            <a:extLst>
              <a:ext uri="{FF2B5EF4-FFF2-40B4-BE49-F238E27FC236}">
                <a16:creationId xmlns:a16="http://schemas.microsoft.com/office/drawing/2014/main" id="{5CDE399F-BAFE-BFC4-FADE-4C35707643B6}"/>
              </a:ext>
            </a:extLst>
          </p:cNvPr>
          <p:cNvSpPr txBox="1"/>
          <p:nvPr/>
        </p:nvSpPr>
        <p:spPr>
          <a:xfrm>
            <a:off x="4524375" y="4919196"/>
            <a:ext cx="314325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Guilherme Lima Machado (822162693)</a:t>
            </a:r>
            <a:endParaRPr dirty="0">
              <a:solidFill>
                <a:srgbClr val="9966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08000" y="424890"/>
            <a:ext cx="5200650" cy="66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dirty="0" err="1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Diagnóstico</a:t>
            </a:r>
            <a:r>
              <a:rPr lang="en-US" sz="3600" b="1" i="0" u="none" strike="noStrike" cap="none" dirty="0">
                <a:solidFill>
                  <a:schemeClr val="accent4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900" b="1" dirty="0" err="1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Inicial</a:t>
            </a:r>
            <a:endParaRPr sz="3900" b="1" dirty="0">
              <a:solidFill>
                <a:srgbClr val="9966FF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356509"/>
            <a:ext cx="49530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 dirty="0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Analisando o código original, identificamos problemas estruturais que dificultavam qualquer manutenção:</a:t>
            </a:r>
            <a:endParaRPr sz="1100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2786717"/>
            <a:ext cx="46672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Código Monolítico: </a:t>
            </a:r>
            <a:r>
              <a:rPr lang="pt-BR" sz="120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Toda a lógica estava concentrada em um único arquivo (</a:t>
            </a:r>
            <a:r>
              <a:rPr lang="pt-BR" sz="1200" dirty="0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AnagramaApp</a:t>
            </a:r>
            <a:r>
              <a:rPr lang="pt-BR" sz="1200" i="0" u="none" strike="noStrike" cap="none" dirty="0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.ja</a:t>
            </a:r>
            <a:r>
              <a:rPr lang="pt-BR" sz="1200" dirty="0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v</a:t>
            </a:r>
            <a:r>
              <a:rPr lang="pt-BR" sz="1200" i="0" u="none" strike="noStrike" cap="none" dirty="0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a</a:t>
            </a:r>
            <a:r>
              <a:rPr lang="pt-BR" sz="120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) com mais de 2600 linhas.</a:t>
            </a:r>
            <a:endParaRPr sz="110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3735572"/>
            <a:ext cx="46672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Alto </a:t>
            </a:r>
            <a:r>
              <a:rPr lang="en-US" sz="1200" b="1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Acoplamento</a:t>
            </a:r>
            <a:r>
              <a:rPr lang="en-US" sz="1200" b="1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2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pt-BR" sz="12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A interface gráfica e a lógica do jogo estavam misturadas, impedindo testes isolados</a:t>
            </a:r>
            <a:r>
              <a:rPr lang="en-US" sz="12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10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4640286"/>
            <a:ext cx="46672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Repetição de Lógica: </a:t>
            </a:r>
            <a:r>
              <a:rPr lang="pt-BR" sz="120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O código usava estruturas condicionais copiadas e coladas (switch-cases) para cada letra do alfabeto.</a:t>
            </a:r>
            <a:endParaRPr sz="1100"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5560123"/>
            <a:ext cx="46672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Variáveis Confusas: </a:t>
            </a:r>
            <a:r>
              <a:rPr lang="pt-BR" sz="120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Nomes como </a:t>
            </a:r>
            <a:r>
              <a:rPr lang="pt-BR" sz="1200" i="0" u="none" strike="noStrike" cap="none" dirty="0" err="1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contA</a:t>
            </a:r>
            <a:r>
              <a:rPr lang="pt-BR" sz="120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ou </a:t>
            </a:r>
            <a:r>
              <a:rPr lang="pt-BR" sz="1200" dirty="0" err="1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botaoAClicado</a:t>
            </a:r>
            <a:r>
              <a:rPr lang="pt-BR" sz="120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tornavam difícil entender o estado do jogo e</a:t>
            </a:r>
            <a:r>
              <a:rPr lang="en-US" sz="120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o </a:t>
            </a:r>
            <a:r>
              <a:rPr lang="en-US" sz="12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rastreio</a:t>
            </a:r>
            <a:r>
              <a:rPr lang="en-US" sz="12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de bugs.</a:t>
            </a:r>
            <a:endParaRPr sz="1100" dirty="0"/>
          </a:p>
        </p:txBody>
      </p:sp>
      <p:pic>
        <p:nvPicPr>
          <p:cNvPr id="8" name="Google Shape;102;p14" descr="Marca de seleção">
            <a:extLst>
              <a:ext uri="{FF2B5EF4-FFF2-40B4-BE49-F238E27FC236}">
                <a16:creationId xmlns:a16="http://schemas.microsoft.com/office/drawing/2014/main" id="{8D689FE1-F2C6-5FA5-8379-B2B347117ADD}"/>
              </a:ext>
            </a:extLst>
          </p:cNvPr>
          <p:cNvPicPr preferRelativeResize="0"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28650" y="286836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2;p14" descr="Marca de seleção">
            <a:extLst>
              <a:ext uri="{FF2B5EF4-FFF2-40B4-BE49-F238E27FC236}">
                <a16:creationId xmlns:a16="http://schemas.microsoft.com/office/drawing/2014/main" id="{C0AAA2F8-01E5-9EAD-F05F-B2C78CB7DC10}"/>
              </a:ext>
            </a:extLst>
          </p:cNvPr>
          <p:cNvPicPr preferRelativeResize="0"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7612" y="381862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2;p14" descr="Marca de seleção">
            <a:extLst>
              <a:ext uri="{FF2B5EF4-FFF2-40B4-BE49-F238E27FC236}">
                <a16:creationId xmlns:a16="http://schemas.microsoft.com/office/drawing/2014/main" id="{526A7479-3F18-3488-E25A-EF35AC9CA175}"/>
              </a:ext>
            </a:extLst>
          </p:cNvPr>
          <p:cNvPicPr preferRelativeResize="0"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28650" y="473194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2;p14" descr="Marca de seleção">
            <a:extLst>
              <a:ext uri="{FF2B5EF4-FFF2-40B4-BE49-F238E27FC236}">
                <a16:creationId xmlns:a16="http://schemas.microsoft.com/office/drawing/2014/main" id="{96F9695B-C7AD-AD8C-858D-32A390E3942F}"/>
              </a:ext>
            </a:extLst>
          </p:cNvPr>
          <p:cNvPicPr preferRelativeResize="0"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28650" y="563738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0DC14E1-C6A3-7961-B6F7-6347F88749B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14037" r="3773"/>
          <a:stretch>
            <a:fillRect/>
          </a:stretch>
        </p:blipFill>
        <p:spPr>
          <a:xfrm>
            <a:off x="6472923" y="424890"/>
            <a:ext cx="5205863" cy="5897880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884015"/>
            <a:ext cx="3555950" cy="4206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884015"/>
            <a:ext cx="3555950" cy="4206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9650" y="1884015"/>
            <a:ext cx="3555950" cy="42061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71525" y="2817465"/>
            <a:ext cx="311367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Arquitetura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Modular (SRP)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771525" y="3737520"/>
            <a:ext cx="29654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Separamos o código em classes com funções específicas: </a:t>
            </a:r>
            <a:r>
              <a:rPr lang="en-US" sz="1400" b="0" i="0" u="none" strike="noStrike" cap="none" dirty="0" err="1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GameController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lógica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), </a:t>
            </a:r>
            <a:r>
              <a:rPr lang="en-US" sz="1400" dirty="0" err="1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EstadoJogo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(dados) e </a:t>
            </a:r>
            <a:r>
              <a:rPr lang="en-US" sz="1400" dirty="0" err="1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ButtonFactory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interface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4613225" y="2817465"/>
            <a:ext cx="26003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Princípio DRY &amp; OCP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13225" y="3529905"/>
            <a:ext cx="2965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Removemos a repetição de código. Criamos uma lógica única que funciona para qualquer letra, facilitando futuras alterações.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8454925" y="2817465"/>
            <a:ext cx="2890361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Clareza e Legibilidade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54925" y="3444180"/>
            <a:ext cx="29654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Adoção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nomes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significativos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métodos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variáveis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(ex: </a:t>
            </a:r>
            <a:r>
              <a:rPr lang="en-US" sz="1400" b="0" i="0" u="none" strike="noStrike" cap="none" dirty="0" err="1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checkCorrect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(), </a:t>
            </a:r>
            <a:r>
              <a:rPr lang="en-US" sz="1400" b="0" i="0" u="none" strike="noStrike" cap="none" dirty="0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undo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()),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eliminando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ambiguidade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do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código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legado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119" name="Google Shape;119;p15" descr="Banco de dados"/>
          <p:cNvPicPr preferRelativeResize="0"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95337" y="219834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Símbolo de reciclagem"/>
          <p:cNvPicPr preferRelativeResize="0"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613225" y="219834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Sinal"/>
          <p:cNvPicPr preferRelativeResize="0"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454925" y="2222152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476250" y="476250"/>
            <a:ext cx="11715750" cy="66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Aplicações</a:t>
            </a:r>
            <a:r>
              <a:rPr lang="en-US" sz="3900" b="1" i="0" u="none" strike="noStrike" cap="none" dirty="0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900" b="1" i="0" u="none" strike="noStrike" cap="none" dirty="0" err="1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na</a:t>
            </a:r>
            <a:r>
              <a:rPr lang="en-US" sz="3900" b="1" i="0" u="none" strike="noStrike" cap="none" dirty="0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900" b="1" i="0" u="none" strike="noStrike" cap="none" dirty="0" err="1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Refatoração</a:t>
            </a:r>
            <a:endParaRPr dirty="0">
              <a:solidFill>
                <a:srgbClr val="9966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0450" y="1843980"/>
            <a:ext cx="43053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476250" y="2461702"/>
            <a:ext cx="6457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Criamos uma pasta /testes para garantir que o jogo continuasse funcionando corretamente durante as mudanças:</a:t>
            </a:r>
            <a:endParaRPr dirty="0"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19975" y="1853505"/>
            <a:ext cx="42862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2000" y="3372742"/>
            <a:ext cx="6172200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Regras do Jogo: </a:t>
            </a:r>
            <a:r>
              <a:rPr lang="pt-BR" sz="150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Testes como </a:t>
            </a:r>
            <a:r>
              <a:rPr lang="pt-BR" sz="1400" i="0" u="none" strike="noStrike" cap="none" dirty="0" err="1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testPalavraCompleta</a:t>
            </a:r>
            <a:r>
              <a:rPr lang="pt-BR" sz="150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() verificam se o jogo detecta corretamente quando o usuário ganha.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4150992"/>
            <a:ext cx="6172200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Controle de Estado: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00" dirty="0" err="1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testDelete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() e </a:t>
            </a:r>
            <a:r>
              <a:rPr lang="en-US" sz="1400" dirty="0" err="1">
                <a:solidFill>
                  <a:srgbClr val="D4D4D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Urbanist"/>
              </a:rPr>
              <a:t>testDesfazer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()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verificam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integridade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das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ações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usuário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reversão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jogadas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4884417"/>
            <a:ext cx="6172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Segurança</a:t>
            </a:r>
            <a:r>
              <a:rPr lang="en-US" sz="1500" b="1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pt-BR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Os testes permitiram alterar a estrutura do código com a certeza de que a lógica principal não foi quebrada.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476250" y="476250"/>
            <a:ext cx="11715750" cy="66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Testes </a:t>
            </a:r>
            <a:r>
              <a:rPr lang="en-US" sz="3900" b="1" i="0" u="none" strike="noStrike" cap="none" dirty="0" err="1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Unitários</a:t>
            </a:r>
            <a:endParaRPr dirty="0">
              <a:solidFill>
                <a:srgbClr val="9966FF"/>
              </a:solidFill>
            </a:endParaRPr>
          </a:p>
        </p:txBody>
      </p:sp>
      <p:pic>
        <p:nvPicPr>
          <p:cNvPr id="2" name="Google Shape;102;p14" descr="Marca de seleção">
            <a:extLst>
              <a:ext uri="{FF2B5EF4-FFF2-40B4-BE49-F238E27FC236}">
                <a16:creationId xmlns:a16="http://schemas.microsoft.com/office/drawing/2014/main" id="{AF8641CF-9986-E4D5-00FF-B64170B72467}"/>
              </a:ext>
            </a:extLst>
          </p:cNvPr>
          <p:cNvPicPr preferRelativeResize="0"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4009" y="3508711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2;p14" descr="Marca de seleção">
            <a:extLst>
              <a:ext uri="{FF2B5EF4-FFF2-40B4-BE49-F238E27FC236}">
                <a16:creationId xmlns:a16="http://schemas.microsoft.com/office/drawing/2014/main" id="{53353111-8D69-35FF-BE1D-6B4D1ACDBE3D}"/>
              </a:ext>
            </a:extLst>
          </p:cNvPr>
          <p:cNvPicPr preferRelativeResize="0"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67846" y="428478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2;p14" descr="Marca de seleção">
            <a:extLst>
              <a:ext uri="{FF2B5EF4-FFF2-40B4-BE49-F238E27FC236}">
                <a16:creationId xmlns:a16="http://schemas.microsoft.com/office/drawing/2014/main" id="{A9BD5896-0512-ECB0-ECFE-AE59F3EBF0E6}"/>
              </a:ext>
            </a:extLst>
          </p:cNvPr>
          <p:cNvPicPr preferRelativeResize="0"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85775" y="5016034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571500" y="762000"/>
            <a:ext cx="5200650" cy="66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Conclusão</a:t>
            </a:r>
            <a:r>
              <a:rPr lang="en-US" sz="3900" b="1" i="0" u="none" strike="noStrike" cap="none" dirty="0">
                <a:solidFill>
                  <a:srgbClr val="9966FF"/>
                </a:solidFill>
                <a:latin typeface="Urbanist"/>
                <a:ea typeface="Urbanist"/>
                <a:cs typeface="Urbanist"/>
                <a:sym typeface="Urbanist"/>
              </a:rPr>
              <a:t> do Grupo</a:t>
            </a:r>
            <a:endParaRPr dirty="0">
              <a:solidFill>
                <a:srgbClr val="9966FF"/>
              </a:solidFill>
            </a:endParaRPr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2137320"/>
            <a:ext cx="520065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Vivência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no </a:t>
            </a:r>
            <a:r>
              <a:rPr lang="en-US" sz="21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Projeto</a:t>
            </a:r>
            <a:endParaRPr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262116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A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experiência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demonstrou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que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código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"que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funciona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"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não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é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suficiente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. A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arquitetura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limpa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reduziu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a carga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cognitiva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facilitou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colaboração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 do </a:t>
            </a:r>
            <a:r>
              <a:rPr lang="en-US" sz="1500" b="0" i="0" u="none" strike="noStrike" cap="none" dirty="0" err="1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grupo</a:t>
            </a:r>
            <a:r>
              <a:rPr lang="en-US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4011810"/>
            <a:ext cx="520065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Importância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do Clean Code</a:t>
            </a: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4495651"/>
            <a:ext cx="4953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u="none" strike="noStrike" cap="none" dirty="0">
                <a:solidFill>
                  <a:srgbClr val="D4D4D8"/>
                </a:solidFill>
                <a:latin typeface="Urbanist"/>
                <a:ea typeface="Urbanist"/>
                <a:cs typeface="Urbanist"/>
                <a:sym typeface="Urbanist"/>
              </a:rPr>
              <a:t>A refatoração é necessária para manter o software viável. O código limpo facilita a correção de erros e a adição de novas funcionalidades, reduzindo drasticamente o custo de manutenção e garantindo a longevidade do software.</a:t>
            </a:r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38</TotalTime>
  <Words>372</Words>
  <Application>Microsoft Office PowerPoint</Application>
  <PresentationFormat>Widescreen</PresentationFormat>
  <Paragraphs>28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Cascadia Code</vt:lpstr>
      <vt:lpstr>Urbanist</vt:lpstr>
      <vt:lpstr>Calibri Light</vt:lpstr>
      <vt:lpstr>Calibri</vt:lpstr>
      <vt:lpstr>Celestial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Guilherme Lima</dc:creator>
  <cp:lastModifiedBy>Guilherme Lima</cp:lastModifiedBy>
  <cp:revision>5</cp:revision>
  <dcterms:modified xsi:type="dcterms:W3CDTF">2025-11-27T11:12:29Z</dcterms:modified>
</cp:coreProperties>
</file>